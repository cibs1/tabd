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B970E-EB04-22C0-51E3-131EC85862D4}" v="234" dt="2026-06-04T19:32:15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9004E-E2C2-4791-A519-F612EA25EFDC}" type="datetimeFigureOut">
              <a:t>04/06/2026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84DC2-00CE-44ED-8B5E-C1ED02D24815}" type="slidenum"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03251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109728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914400"/>
            <a:ext cx="164592" cy="164592"/>
          </a:xfrm>
          <a:prstGeom prst="ellipse">
            <a:avLst/>
          </a:prstGeom>
          <a:solidFill>
            <a:srgbClr val="17A589">
              <a:alpha val="45000"/>
            </a:srgbClr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77440" y="640080"/>
            <a:ext cx="109728" cy="109728"/>
          </a:xfrm>
          <a:prstGeom prst="ellipse">
            <a:avLst/>
          </a:prstGeom>
          <a:solidFill>
            <a:srgbClr val="17A589">
              <a:alpha val="45000"/>
            </a:srgbClr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0" y="1097280"/>
            <a:ext cx="128016" cy="128016"/>
          </a:xfrm>
          <a:prstGeom prst="ellipse">
            <a:avLst/>
          </a:prstGeom>
          <a:solidFill>
            <a:srgbClr val="17A589">
              <a:alpha val="45000"/>
            </a:srgbClr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474720"/>
            <a:ext cx="91440" cy="91440"/>
          </a:xfrm>
          <a:prstGeom prst="ellipse">
            <a:avLst/>
          </a:prstGeom>
          <a:solidFill>
            <a:srgbClr val="17A589">
              <a:alpha val="45000"/>
            </a:srgbClr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3840480"/>
            <a:ext cx="118872" cy="118872"/>
          </a:xfrm>
          <a:prstGeom prst="ellipse">
            <a:avLst/>
          </a:prstGeom>
          <a:solidFill>
            <a:srgbClr val="17A589">
              <a:alpha val="45000"/>
            </a:srgbClr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754880"/>
            <a:ext cx="1828800" cy="388620"/>
          </a:xfrm>
          <a:prstGeom prst="rect">
            <a:avLst/>
          </a:prstGeom>
          <a:solidFill>
            <a:srgbClr val="006600"/>
          </a:solidFill>
          <a:ln w="12700">
            <a:solidFill>
              <a:srgbClr val="0066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0" y="4754880"/>
            <a:ext cx="3474720" cy="3886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</a:rPr>
              <a:t>Election Analytics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212140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Platform for Portugal</a:t>
            </a:r>
            <a:endParaRPr lang="en-US" sz="4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BD"/>
                </a:solidFill>
              </a:rPr>
              <a:t>Advanced Topics in Databases  ·  Practical Assignment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Rui Coelho  up202106772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947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Ricardo Ribeiro  up202104806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BD"/>
                </a:solidFill>
              </a:rPr>
              <a:t>June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0" y="10058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5A623"/>
                </a:solidFill>
              </a:rPr>
              <a:t>4</a:t>
            </a:r>
            <a:endParaRPr lang="en-US" sz="9600" dirty="0"/>
          </a:p>
        </p:txBody>
      </p:sp>
      <p:sp>
        <p:nvSpPr>
          <p:cNvPr id="18" name="Text 16"/>
          <p:cNvSpPr/>
          <p:nvPr/>
        </p:nvSpPr>
        <p:spPr>
          <a:xfrm>
            <a:off x="5852160" y="1965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election cycles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69280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BD"/>
                </a:solidFill>
              </a:rPr>
              <a:t>2013 · 2017 · 2021 · 2025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30175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7A589"/>
                </a:solidFill>
              </a:rPr>
              <a:t>308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5852160" y="3767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municipalities mapped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4480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BD"/>
                </a:solidFill>
              </a:rPr>
              <a:t>PostgreSQL · PostGIS · Flask · D'Hondt</a:t>
            </a:r>
            <a:endParaRPr lang="en-US" sz="9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11744CC-22AC-93A7-56F5-F45FAFBEF3FD}"/>
              </a:ext>
            </a:extLst>
          </p:cNvPr>
          <p:cNvSpPr/>
          <p:nvPr/>
        </p:nvSpPr>
        <p:spPr>
          <a:xfrm>
            <a:off x="1781533" y="4891512"/>
            <a:ext cx="93945" cy="10960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Goal &amp;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19659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25880"/>
            <a:ext cx="1965960" cy="1828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🗳️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84632" y="2240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1931"/>
                </a:solidFill>
                <a:ea typeface="Calibri"/>
                <a:cs typeface="Calibri"/>
              </a:rPr>
              <a:t>Database</a:t>
            </a:r>
            <a:endParaRPr lang="en-US" sz="1400" b="1" dirty="0">
              <a:solidFill>
                <a:srgbClr val="0A1931"/>
              </a:solidFill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Autárquicas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2013 · 2017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2021 · 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325880"/>
            <a:ext cx="19659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325880"/>
            <a:ext cx="1965960" cy="1828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🗺️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633472" y="2240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31"/>
                </a:solidFill>
              </a:rPr>
              <a:t>Spatial Layer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2651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DGT CAOP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GeoPackages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loaded in PostGIS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1325880"/>
            <a:ext cx="19659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325880"/>
            <a:ext cx="1965960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🔄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4782312" y="2240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1931"/>
                </a:solidFill>
              </a:rPr>
              <a:t>ETL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800600" y="2651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Python loader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parameterized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election + source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325880"/>
            <a:ext cx="19659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325880"/>
            <a:ext cx="1965960" cy="1828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5544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🌐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931152" y="224028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A1931"/>
                </a:solidFill>
              </a:rPr>
              <a:t>Flask App</a:t>
            </a:r>
            <a:endParaRPr lang="en-US" sz="1400"/>
          </a:p>
        </p:txBody>
      </p:sp>
      <p:sp>
        <p:nvSpPr>
          <p:cNvPr id="24" name="Text 22"/>
          <p:cNvSpPr/>
          <p:nvPr/>
        </p:nvSpPr>
        <p:spPr>
          <a:xfrm>
            <a:off x="6949440" y="26517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Explicit SQL via</a:t>
            </a:r>
            <a:endParaRPr lang="en-US" sz="1100" dirty="0"/>
          </a:p>
          <a:p>
            <a:pPr algn="ctr"/>
            <a:r>
              <a:rPr lang="en-US" sz="1100">
                <a:solidFill>
                  <a:srgbClr val="4A6274"/>
                </a:solidFill>
              </a:rPr>
              <a:t>psycopg2 - no ORM</a:t>
            </a:r>
            <a:endParaRPr lang="en-US" sz="1100"/>
          </a:p>
          <a:p>
            <a:pPr marL="0" indent="0" algn="ctr">
              <a:buNone/>
            </a:pPr>
            <a:r>
              <a:rPr lang="en-US" sz="1100" dirty="0">
                <a:solidFill>
                  <a:srgbClr val="4A6274"/>
                </a:solidFill>
              </a:rPr>
              <a:t>hiding DB logic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8BD"/>
                </a:solidFill>
              </a:rPr>
              <a:t>Focus: database-centred · SQL explicit · Flask as thin presentation layer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1325880" cy="10972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002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CNE Excel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Files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95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D0E8F0"/>
                </a:solidFill>
              </a:rPr>
              <a:t>2013-2025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73936" y="2020824"/>
            <a:ext cx="292608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508760"/>
            <a:ext cx="132588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16002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Staging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295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</a:rPr>
              <a:t>Raw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65576" y="2020824"/>
            <a:ext cx="292608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0" y="1508760"/>
            <a:ext cx="1325880" cy="10972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6002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Operational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Schema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2295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</a:rPr>
              <a:t>Normalized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57216" y="2020824"/>
            <a:ext cx="292608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508760"/>
            <a:ext cx="132588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532120" y="16002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Warehouse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295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</a:rPr>
              <a:t>Star schema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48856" y="2020824"/>
            <a:ext cx="292608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1508760"/>
            <a:ext cx="1325880" cy="109728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6002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Flask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23760" y="229514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E8F0"/>
                </a:solidFill>
              </a:rPr>
              <a:t>Maps &amp; charts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3063240"/>
            <a:ext cx="1325880" cy="56692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434840" y="3090672"/>
            <a:ext cx="1325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CAOP GeoPackages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97780" y="2606040"/>
            <a:ext cx="0" cy="457200"/>
          </a:xfrm>
          <a:prstGeom prst="line">
            <a:avLst/>
          </a:prstGeom>
          <a:noFill/>
          <a:ln w="19050">
            <a:solidFill>
              <a:srgbClr val="1E8449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737360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276"/>
                </a:solidFill>
              </a:rPr>
              <a:t>Python ETL + PL/pgSQL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065169" y="2834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5276"/>
                </a:solidFill>
              </a:rPr>
              <a:t>Warehouse Refresh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297680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7A5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32511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PostGIS geometries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14600" y="4297680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7A5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8608" y="432511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Materialized views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4297680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7A58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81728" y="432511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Triggers &amp; functions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20840" y="4297680"/>
            <a:ext cx="187452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17A5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4325112"/>
            <a:ext cx="1755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D'Hondt SQL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" y="47731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8BD"/>
                </a:solidFill>
              </a:rPr>
              <a:t>Key DB components ↑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DATABASE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Operational Data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01168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3624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</a:rPr>
              <a:t>elections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673352"/>
            <a:ext cx="2011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70992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 dirty="0" err="1">
                <a:solidFill>
                  <a:srgbClr val="F5A623"/>
                </a:solidFill>
              </a:rPr>
              <a:t>election_id</a:t>
            </a:r>
            <a:r>
              <a:rPr lang="en-US" sz="950" b="1" dirty="0">
                <a:solidFill>
                  <a:srgbClr val="F5A623"/>
                </a:solidFill>
              </a:rPr>
              <a:t> PK (Primary Key)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1208" y="19659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 err="1">
                <a:solidFill>
                  <a:srgbClr val="4A6274"/>
                </a:solidFill>
              </a:rPr>
              <a:t>election_code</a:t>
            </a:r>
            <a:r>
              <a:rPr lang="en-US" sz="950" dirty="0">
                <a:solidFill>
                  <a:srgbClr val="4A6274"/>
                </a:solidFill>
              </a:rPr>
              <a:t> UQ (Unique Key)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21208" y="22219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</a:rPr>
              <a:t>date, source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01168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73552" y="136245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</a:rPr>
              <a:t>organs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673352"/>
            <a:ext cx="2011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70992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organ_code PK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10128" y="196596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</a:rPr>
              <a:t>CM / AM / AF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0128" y="222199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</a:rPr>
              <a:t>territory level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0" y="1325880"/>
            <a:ext cx="233172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73952" y="136245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</a:rPr>
              <a:t>territories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673352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170992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territory_code PK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10528" y="196596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</a:rPr>
              <a:t>level, parent_code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510528" y="222199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</a:rPr>
              <a:t>geom (PostGIS)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2971800"/>
            <a:ext cx="201168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3008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</a:rPr>
              <a:t>candidacies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3319272"/>
            <a:ext cx="2011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3355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</a:rPr>
              <a:t>candidacy_id PK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1208" y="36118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17A589"/>
                </a:solidFill>
              </a:rPr>
              <a:t>election/organ/territory FK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" y="38679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</a:rPr>
              <a:t>sigla, type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0" y="2971800"/>
            <a:ext cx="201168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73552" y="3008376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</a:rPr>
              <a:t>vote_results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3319272"/>
            <a:ext cx="201168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35584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b="1">
                <a:solidFill>
                  <a:srgbClr val="17A589"/>
                </a:solidFill>
              </a:rPr>
              <a:t>election FK (Foreign Key)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10128" y="361188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A589"/>
                </a:solidFill>
              </a:rPr>
              <a:t>territory FK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10128" y="3867912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A589"/>
                </a:solidFill>
              </a:rPr>
              <a:t>candidacy FK, votes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0" y="2971800"/>
            <a:ext cx="2331720" cy="34747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3008376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A589"/>
                </a:solidFill>
              </a:rPr>
              <a:t>seat_results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0" y="3319272"/>
            <a:ext cx="2331720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10528" y="335584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A589"/>
                </a:solidFill>
              </a:rPr>
              <a:t>election FK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510528" y="361188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7A589"/>
                </a:solidFill>
              </a:rPr>
              <a:t>territory FK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510528" y="3867912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4"/>
                </a:solidFill>
              </a:rPr>
              <a:t>percentage, mandates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423160" y="1920240"/>
            <a:ext cx="77724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212080" y="1920240"/>
            <a:ext cx="118872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2423160" y="3566160"/>
            <a:ext cx="77724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5212080" y="3566160"/>
            <a:ext cx="118872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417320" y="2514600"/>
            <a:ext cx="0" cy="457200"/>
          </a:xfrm>
          <a:prstGeom prst="line">
            <a:avLst/>
          </a:prstGeom>
          <a:noFill/>
          <a:ln w="9525">
            <a:solidFill>
              <a:srgbClr val="8FA8BD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206240" y="2514600"/>
            <a:ext cx="0" cy="457200"/>
          </a:xfrm>
          <a:prstGeom prst="line">
            <a:avLst/>
          </a:prstGeom>
          <a:noFill/>
          <a:ln w="9525">
            <a:solidFill>
              <a:srgbClr val="8FA8BD"/>
            </a:solidFill>
            <a:prstDash val="dash"/>
          </a:ln>
        </p:spPr>
      </p:sp>
      <p:sp>
        <p:nvSpPr>
          <p:cNvPr id="47" name="Text 45"/>
          <p:cNvSpPr/>
          <p:nvPr/>
        </p:nvSpPr>
        <p:spPr>
          <a:xfrm>
            <a:off x="411480" y="44805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BD"/>
                </a:solidFill>
              </a:rPr>
              <a:t>Territory hierarchy: district → municipality → parish  ·  Candidacy types: party, coalition, citizen group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ETL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ETL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408176"/>
            <a:ext cx="411480" cy="41148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08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" y="1819656"/>
            <a:ext cx="0" cy="283464"/>
          </a:xfrm>
          <a:prstGeom prst="line">
            <a:avLst/>
          </a:prstGeom>
          <a:noFill/>
          <a:ln w="15240">
            <a:solidFill>
              <a:srgbClr val="17A5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</a:rPr>
              <a:t>Parse CNE Excel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Dynamic column detection — 2013/17/21/25 differ in party blocks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411480" cy="41148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" y="2514600"/>
            <a:ext cx="0" cy="283464"/>
          </a:xfrm>
          <a:prstGeom prst="line">
            <a:avLst/>
          </a:prstGeom>
          <a:noFill/>
          <a:ln w="1524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</a:rPr>
              <a:t>Staging via COPY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35915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Fast psycopg2 COPY into staging tables; rerunnable truncate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798064"/>
            <a:ext cx="411480" cy="41148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798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" y="3209544"/>
            <a:ext cx="0" cy="283464"/>
          </a:xfrm>
          <a:prstGeom prst="line">
            <a:avLst/>
          </a:prstGeom>
          <a:noFill/>
          <a:ln w="15240">
            <a:solidFill>
              <a:srgbClr val="17A5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27797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</a:rPr>
              <a:t>PL/pgSQL Transform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0540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load_from_staging() resolves labels, codes, and constraints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93008"/>
            <a:ext cx="411480" cy="41148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" y="3904488"/>
            <a:ext cx="0" cy="283464"/>
          </a:xfrm>
          <a:prstGeom prst="line">
            <a:avLst/>
          </a:prstGeom>
          <a:noFill/>
          <a:ln w="15240">
            <a:solidFill>
              <a:srgbClr val="17A5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34747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</a:rPr>
              <a:t>Warehouse Refresh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749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refresh_from_operational() rebuilds dims + facts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4187952"/>
            <a:ext cx="411480" cy="41148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60120" y="416966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</a:rPr>
              <a:t>CAOP GeoPackages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444398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Reproject → EPSG:3763 · dissolve duplicates · update territories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77840" y="1188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1931"/>
                </a:solidFill>
              </a:rPr>
              <a:t>Data Loaded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0" y="1600200"/>
            <a:ext cx="3246120" cy="3200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618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Election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65392" y="1618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Vote rows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44384" y="161848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Elected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0" y="1938528"/>
            <a:ext cx="3246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19751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589"/>
                </a:solidFill>
              </a:rPr>
              <a:t>AL 2013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65392" y="19751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12,152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44384" y="197510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35,579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0" y="2322576"/>
            <a:ext cx="324612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D5E3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589"/>
                </a:solidFill>
              </a:rPr>
              <a:t>AL 2017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65392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12,069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44384" y="23591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35,709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2706624"/>
            <a:ext cx="32461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0" y="2743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589"/>
                </a:solidFill>
              </a:rPr>
              <a:t>AL 2021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565392" y="2743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12,277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44384" y="27432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35,491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486400" y="3090672"/>
            <a:ext cx="3246120" cy="347472"/>
          </a:xfrm>
          <a:prstGeom prst="rect">
            <a:avLst/>
          </a:prstGeom>
          <a:solidFill>
            <a:srgbClr val="EBF5FB"/>
          </a:solidFill>
          <a:ln w="6350">
            <a:solidFill>
              <a:srgbClr val="D5E3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31272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A589"/>
                </a:solidFill>
              </a:rPr>
              <a:t>AL 2025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65392" y="31272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12,839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44384" y="31272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36,521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615238" y="3503010"/>
            <a:ext cx="524352" cy="377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A1931"/>
                </a:solidFill>
              </a:rPr>
              <a:t>Total: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315200" y="349300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17A589"/>
                </a:solidFill>
              </a:rPr>
              <a:t>49,337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BD"/>
                </a:solidFill>
              </a:rPr>
              <a:t>Cleaning: territorial codes → 6 chars · numeric normalization · label resolution via mapa_anexo.xlsx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WAREHOUSE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Data Warehouse  ·  Star Schema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91840" y="2011680"/>
            <a:ext cx="2560320" cy="2011680"/>
          </a:xfrm>
          <a:prstGeom prst="rect">
            <a:avLst/>
          </a:prstGeom>
          <a:solidFill>
            <a:srgbClr val="0A1931"/>
          </a:solidFill>
          <a:ln w="19050">
            <a:solidFill>
              <a:srgbClr val="17A589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0" y="21031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A589"/>
                </a:solidFill>
              </a:rPr>
              <a:t>fact_election_results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56432" y="2487168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votes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456432" y="2734056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vote_percent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56432" y="2980944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mandates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56432" y="3227832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registered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56432" y="347472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voters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56432" y="3721608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blank · null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371600"/>
            <a:ext cx="2286000" cy="301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40817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dim_election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673352"/>
            <a:ext cx="228600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1907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5A623"/>
                </a:solidFill>
              </a:rPr>
              <a:t>election_key</a:t>
            </a:r>
            <a:r>
              <a:rPr lang="en-US" sz="900" b="1" dirty="0">
                <a:solidFill>
                  <a:srgbClr val="F5A623"/>
                </a:solidFill>
              </a:rPr>
              <a:t> 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194767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</a:rPr>
              <a:t>code, name, date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06040" y="1874520"/>
            <a:ext cx="68580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sysDash"/>
          </a:ln>
        </p:spPr>
      </p:sp>
      <p:sp>
        <p:nvSpPr>
          <p:cNvPr id="19" name="Shape 17"/>
          <p:cNvSpPr/>
          <p:nvPr/>
        </p:nvSpPr>
        <p:spPr>
          <a:xfrm>
            <a:off x="320040" y="3017520"/>
            <a:ext cx="2286000" cy="301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05409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dim_organ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19272"/>
            <a:ext cx="2286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649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5A623"/>
                </a:solidFill>
              </a:rPr>
              <a:t>organ_key</a:t>
            </a:r>
            <a:endParaRPr lang="en-US" sz="900" b="1" dirty="0" err="1">
              <a:solidFill>
                <a:srgbClr val="F5A623"/>
              </a:solidFill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11480" y="35935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</a:rPr>
              <a:t>code / name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822192"/>
            <a:ext cx="21214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</a:rPr>
              <a:t>territory level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3543300"/>
            <a:ext cx="68580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6583680" y="1371600"/>
            <a:ext cx="2240280" cy="301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140817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dim_territory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1673352"/>
            <a:ext cx="2240280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171907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5A623"/>
                </a:solidFill>
              </a:rPr>
              <a:t>territory_key</a:t>
            </a:r>
            <a:r>
              <a:rPr lang="en-US" sz="900" b="1" dirty="0">
                <a:solidFill>
                  <a:srgbClr val="F5A623"/>
                </a:solidFill>
              </a:rPr>
              <a:t> 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675120" y="194767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</a:rPr>
              <a:t>code/name/level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217627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</a:rPr>
              <a:t>parent · district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852160" y="3017520"/>
            <a:ext cx="73152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sysDash"/>
          </a:ln>
        </p:spPr>
      </p:sp>
      <p:sp>
        <p:nvSpPr>
          <p:cNvPr id="33" name="Shape 31"/>
          <p:cNvSpPr/>
          <p:nvPr/>
        </p:nvSpPr>
        <p:spPr>
          <a:xfrm>
            <a:off x="6583680" y="3017520"/>
            <a:ext cx="2240280" cy="301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3054096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dim_candidacy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3319272"/>
            <a:ext cx="22402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C5D5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3649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 err="1">
                <a:solidFill>
                  <a:srgbClr val="F5A623"/>
                </a:solidFill>
              </a:rPr>
              <a:t>candidacy_key</a:t>
            </a:r>
            <a:r>
              <a:rPr lang="en-US" sz="900" b="1" dirty="0">
                <a:solidFill>
                  <a:srgbClr val="F5A623"/>
                </a:solidFill>
              </a:rPr>
              <a:t> 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35935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</a:rPr>
              <a:t>sigla/name/type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3822192"/>
            <a:ext cx="207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4"/>
                </a:solidFill>
              </a:rPr>
              <a:t>source reference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52160" y="3017520"/>
            <a:ext cx="731520" cy="0"/>
          </a:xfrm>
          <a:prstGeom prst="line">
            <a:avLst/>
          </a:prstGeom>
          <a:noFill/>
          <a:ln w="9525">
            <a:solidFill>
              <a:srgbClr val="8FA8BD"/>
            </a:solidFill>
            <a:prstDash val="sysDash"/>
          </a:ln>
        </p:spPr>
      </p:sp>
      <p:sp>
        <p:nvSpPr>
          <p:cNvPr id="40" name="Shape 38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5171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931"/>
                </a:solidFill>
              </a:rPr>
              <a:t>Materialized views: mv_result_summary · mv_national_totals · mv_territory_winners  →  fast frontend queries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SQL PROGRAMMING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Functions, Procedures &amp; Triggers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743200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533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ƒ(x)  SQL Functions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920240"/>
            <a:ext cx="54864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019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vote_share()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54864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06624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turnout_rate()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54864" cy="5029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11296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dhondt_allocate()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1325880"/>
            <a:ext cx="2743200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3533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⚙  PL/pgSQL Procedures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10128" y="182880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47288" y="1920240"/>
            <a:ext cx="54864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84448" y="1901952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load_from_staging()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47288" y="2724912"/>
            <a:ext cx="54864" cy="5029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4448" y="2706624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refresh_from_operational()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08776" y="1325880"/>
            <a:ext cx="274320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0216" y="1353312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Triggers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08776" y="1828800"/>
            <a:ext cx="274320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5E3E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45936" y="1920240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83097" y="1923382"/>
            <a:ext cx="2244853" cy="5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0A1931"/>
                </a:solidFill>
              </a:rPr>
              <a:t>No negative turnout / votes / mandates</a:t>
            </a:r>
            <a:endParaRPr lang="en-US" sz="10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 sz="1000" dirty="0">
                <a:solidFill>
                  <a:srgbClr val="0A1931"/>
                </a:solidFill>
                <a:ea typeface="+mn-lt"/>
                <a:cs typeface="+mn-lt"/>
              </a:rPr>
              <a:t>Blocks negative values for votes, mandates, </a:t>
            </a:r>
            <a:r>
              <a:rPr lang="en-US" sz="1000">
                <a:solidFill>
                  <a:srgbClr val="0A1931"/>
                </a:solidFill>
                <a:ea typeface="+mn-lt"/>
                <a:cs typeface="+mn-lt"/>
              </a:rPr>
              <a:t>and turnout.</a:t>
            </a:r>
            <a:endParaRPr lang="en-US" sz="1000">
              <a:ea typeface="+mn-lt"/>
              <a:cs typeface="+mn-lt"/>
            </a:endParaRPr>
          </a:p>
          <a:p>
            <a:endParaRPr lang="en-US" sz="1100" dirty="0">
              <a:solidFill>
                <a:srgbClr val="0A1931"/>
              </a:solidFill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345936" y="2724912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83096" y="2706624"/>
            <a:ext cx="23591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A1931"/>
                </a:solidFill>
              </a:rPr>
              <a:t>Blank + Null ≤ Voters</a:t>
            </a:r>
            <a:endParaRPr lang="en-US" sz="1000" b="1">
              <a:solidFill>
                <a:srgbClr val="0A1931"/>
              </a:solidFill>
              <a:ea typeface="Calibri"/>
              <a:cs typeface="Calibri"/>
            </a:endParaRPr>
          </a:p>
          <a:p>
            <a:r>
              <a:rPr lang="en-US" sz="1000">
                <a:solidFill>
                  <a:srgbClr val="0A1931"/>
                </a:solidFill>
                <a:ea typeface="+mn-lt"/>
                <a:cs typeface="+mn-lt"/>
              </a:rPr>
              <a:t>No negative numbers allowed for any counts.</a:t>
            </a:r>
            <a:endParaRPr lang="en-US" sz="1000"/>
          </a:p>
          <a:p>
            <a:endParaRPr lang="en-US" sz="1100" b="1" dirty="0">
              <a:solidFill>
                <a:srgbClr val="0A1931"/>
              </a:solidFill>
              <a:ea typeface="Calibri"/>
              <a:cs typeface="Calibri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345936" y="3529584"/>
            <a:ext cx="54864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3532728"/>
            <a:ext cx="2373439" cy="60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931"/>
                </a:solidFill>
              </a:rPr>
              <a:t>Vote &amp; seat rows must match candidacy scope</a:t>
            </a:r>
            <a:endParaRPr lang="en-US" sz="1000" b="1" dirty="0">
              <a:solidFill>
                <a:srgbClr val="0A1931"/>
              </a:solidFill>
              <a:ea typeface="Calibri"/>
              <a:cs typeface="Calibri"/>
            </a:endParaRPr>
          </a:p>
          <a:p>
            <a:r>
              <a:rPr lang="en-US" sz="1000">
                <a:solidFill>
                  <a:srgbClr val="0A1931"/>
                </a:solidFill>
                <a:ea typeface="+mn-lt"/>
                <a:cs typeface="+mn-lt"/>
              </a:rPr>
              <a:t>Prevents insertion of negative data points.</a:t>
            </a:r>
            <a:endParaRPr lang="en-US" sz="1000"/>
          </a:p>
          <a:p>
            <a:endParaRPr lang="en-US" sz="1100" b="1" dirty="0">
              <a:solidFill>
                <a:srgbClr val="0A1931"/>
              </a:solidFill>
              <a:ea typeface="Calibri"/>
              <a:cs typeface="Calibri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11480" y="4251960"/>
            <a:ext cx="8321040" cy="594360"/>
          </a:xfrm>
          <a:prstGeom prst="rect">
            <a:avLst/>
          </a:prstGeom>
          <a:solidFill>
            <a:srgbClr val="0A1931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</a:rPr>
              <a:t>D'Hondt in SQL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331720" y="42976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generate_series(1, seats)  →  rank with window function  →  pick top-n quotients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ANALYTICS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Analytical SQL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27432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D'Hondt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94560" y="1490472"/>
            <a:ext cx="868680" cy="2560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4996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Allocation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1208" y="213055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Mandate allocation as pure SQL using generate_series + RANK()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9272" y="1353312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353312"/>
            <a:ext cx="27432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Window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Functions ×3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02352" y="1490472"/>
            <a:ext cx="868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02352" y="14996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29000" y="213055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Municipality rankings · turnout within district · seat-change trends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27064" y="1353312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353312"/>
            <a:ext cx="274320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36792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GROUP BY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ROLLUP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10144" y="1490472"/>
            <a:ext cx="86868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10144" y="149961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Aggregation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36792" y="2130552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Candidate subtotals by district → district totals → global total in one query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017520"/>
            <a:ext cx="2743200" cy="54864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31272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GROUP BY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CUBE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194560" y="3154680"/>
            <a:ext cx="86868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3163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Aggregation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1208" y="379476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Votes &amp; mandates by candidate type × district with all subtotals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9272" y="30175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9272" y="3017520"/>
            <a:ext cx="2743200" cy="54864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29000" y="31272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FILTER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jsonb_agg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102352" y="3154680"/>
            <a:ext cx="868680" cy="256032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163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Advanced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29000" y="379476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Conditional aggregation + JSON output for frontend endpoints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27064" y="3017520"/>
            <a:ext cx="27432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27064" y="3017520"/>
            <a:ext cx="2743200" cy="54864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6792" y="3127248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Historical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0A1931"/>
                </a:solidFill>
              </a:rPr>
              <a:t>SQL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010144" y="3154680"/>
            <a:ext cx="868680" cy="2560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10144" y="3163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Multi-year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36792" y="3794760"/>
            <a:ext cx="2542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Turnout changes · winner flips · vote-share trends across 2013–2025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Spatial Layer &amp; Flask Frontend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PostGIS Coverage (EPSG:3763)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6642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Districts / Regions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66420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A589"/>
                </a:solidFill>
              </a:rPr>
              <a:t>20 / 20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3291840" cy="182880"/>
          </a:xfrm>
          <a:prstGeom prst="rect">
            <a:avLst/>
          </a:prstGeom>
          <a:solidFill>
            <a:srgbClr val="D5E3EF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011680"/>
            <a:ext cx="3291840" cy="1828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1965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D"/>
                </a:solidFill>
              </a:rPr>
              <a:t>100%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Municipalities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4871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A589"/>
                </a:solidFill>
              </a:rPr>
              <a:t>308 / 308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34640"/>
            <a:ext cx="3291840" cy="182880"/>
          </a:xfrm>
          <a:prstGeom prst="rect">
            <a:avLst/>
          </a:prstGeom>
          <a:solidFill>
            <a:srgbClr val="D5E3EF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834640"/>
            <a:ext cx="3291840" cy="18288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7889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D"/>
                </a:solidFill>
              </a:rPr>
              <a:t>100%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33101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</a:rPr>
              <a:t>Parishes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331012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7A589"/>
                </a:solidFill>
              </a:rPr>
              <a:t>3241 / 3394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3657600"/>
            <a:ext cx="3291840" cy="182880"/>
          </a:xfrm>
          <a:prstGeom prst="rect">
            <a:avLst/>
          </a:prstGeom>
          <a:solidFill>
            <a:srgbClr val="D5E3EF"/>
          </a:solidFill>
          <a:ln w="12700">
            <a:solidFill>
              <a:srgbClr val="D5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657600"/>
            <a:ext cx="3143707" cy="182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6118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8BD"/>
                </a:solidFill>
              </a:rPr>
              <a:t>95.5%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4251960"/>
            <a:ext cx="4114800" cy="548640"/>
          </a:xfrm>
          <a:prstGeom prst="rect">
            <a:avLst/>
          </a:prstGeom>
          <a:solidFill>
            <a:srgbClr val="EBF5FB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2976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A1931"/>
                </a:solidFill>
              </a:rPr>
              <a:t>ST_AsGeoJSON · ST_Transform · ST_SimplifyPreserveTopology → Leaflet GeoJSON  (308 features per election)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12344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Frontend Pages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664208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664208"/>
            <a:ext cx="397764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7739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213969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Leaflet map · election selector · municipality colours by winner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715768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715768"/>
            <a:ext cx="3977640" cy="64008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9178" y="2832639"/>
            <a:ext cx="3393280" cy="348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7A589"/>
                </a:solidFill>
                <a:latin typeface="Consolas"/>
                <a:ea typeface="Consolas" pitchFamily="34" charset="-122"/>
                <a:cs typeface="Consolas" pitchFamily="34" charset="-120"/>
              </a:rPr>
              <a:t>/municipality/"MUNICIPALITY_NAME"</a:t>
            </a:r>
            <a:endParaRPr lang="en-US" sz="1400" b="1">
              <a:solidFill>
                <a:srgbClr val="17A589"/>
              </a:solidFill>
              <a:latin typeface="Consola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92040" y="31912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Turnout · results table · vote-share chart · seat chart · elected members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767328"/>
            <a:ext cx="3977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767328"/>
            <a:ext cx="397764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877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A5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92040" y="424281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4"/>
                </a:solidFill>
              </a:rPr>
              <a:t>Political-family trends · seat changes · winner flips 2013–2025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46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</a:rPr>
              <a:t>VALIDATION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</a:rPr>
              <a:t>Validation &amp; Testing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4206240" cy="2377440"/>
          </a:xfrm>
          <a:prstGeom prst="rect">
            <a:avLst/>
          </a:prstGeom>
          <a:solidFill>
            <a:srgbClr val="0A1931"/>
          </a:solidFill>
          <a:ln w="19050">
            <a:solidFill>
              <a:srgbClr val="F5A623"/>
            </a:solidFill>
            <a:prstDash val="solid"/>
          </a:ln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</a:rPr>
              <a:t>D'Hondt Validation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8FA8BD"/>
                </a:solidFill>
              </a:rPr>
              <a:t>EX: Agueda Municipal Council 2021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PPD/PSD.MPT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223113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223113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21024" y="223113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68496" y="223113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5877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926080" y="264261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73552" y="264261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999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CDS-PP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26080" y="3054096"/>
            <a:ext cx="256032" cy="25603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622" y="369903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7A589"/>
                </a:solidFill>
              </a:rPr>
              <a:t>✓ Matches official CNE mandates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6328" y="1461611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</a:rPr>
              <a:t>Flask Endpoint Tests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906328" y="1891379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43488" y="1955387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95248" y="1955387"/>
            <a:ext cx="914400" cy="2743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5248" y="195538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HTTP 200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06328" y="2366867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43488" y="243087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/municipality/Agueda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95248" y="2430875"/>
            <a:ext cx="914400" cy="2743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5248" y="2430875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HTTP 200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06328" y="2842355"/>
            <a:ext cx="38404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D5E3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43488" y="2906363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193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695248" y="2906363"/>
            <a:ext cx="914400" cy="27432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5248" y="2906363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HTTP 200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13459" y="3341846"/>
            <a:ext cx="4207668" cy="39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FA8BD"/>
                </a:solidFill>
              </a:rPr>
              <a:t>Checks: staging · operational · warehouse · materialized views · D'Hondt · Flask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11480" y="4389120"/>
            <a:ext cx="8321040" cy="502920"/>
          </a:xfrm>
          <a:prstGeom prst="rect">
            <a:avLst/>
          </a:prstGeom>
          <a:solidFill>
            <a:srgbClr val="EBF5FB"/>
          </a:solidFill>
          <a:ln w="6350">
            <a:solidFill>
              <a:srgbClr val="17A5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2569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A1931"/>
                </a:solidFill>
              </a:rPr>
              <a:t>All 4 election cycles loaded · 49,337 DW facts · 308/308 municipality geometries · D'Hondt verified 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7A589"/>
                </a:solidFill>
              </a:rPr>
              <a:t>Demo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606040" y="34747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1353312"/>
            <a:ext cx="457200" cy="4572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810512"/>
            <a:ext cx="0" cy="256032"/>
          </a:xfrm>
          <a:prstGeom prst="line">
            <a:avLst/>
          </a:prstGeom>
          <a:noFill/>
          <a:ln w="12700">
            <a:solidFill>
              <a:srgbClr val="17A58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325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Repository &amp; SQL/ETL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6184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D"/>
                </a:solidFill>
              </a:rPr>
              <a:t>Structure, schema DDL, analytical queries, historical comparison 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112264"/>
            <a:ext cx="457200" cy="4572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12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569464"/>
            <a:ext cx="0" cy="256032"/>
          </a:xfrm>
          <a:prstGeom prst="line">
            <a:avLst/>
          </a:prstGeom>
          <a:noFill/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2084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FFFFFF"/>
                </a:solidFill>
              </a:rPr>
              <a:t>D'Hondt query (ex: Agueda)</a:t>
            </a:r>
            <a:endParaRPr lang="en-US" sz="1400"/>
          </a:p>
        </p:txBody>
      </p:sp>
      <p:sp>
        <p:nvSpPr>
          <p:cNvPr id="14" name="Text 12"/>
          <p:cNvSpPr/>
          <p:nvPr/>
        </p:nvSpPr>
        <p:spPr>
          <a:xfrm>
            <a:off x="1005840" y="2377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D"/>
                </a:solidFill>
              </a:rPr>
              <a:t>Run validation — verify official mandates PPD/PSD.MPT:4 · PS:2 · CDS-PP:1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1480" y="2871216"/>
            <a:ext cx="457200" cy="4572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71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3328416"/>
            <a:ext cx="0" cy="256032"/>
          </a:xfrm>
          <a:prstGeom prst="line">
            <a:avLst/>
          </a:prstGeom>
          <a:noFill/>
          <a:ln w="12700">
            <a:solidFill>
              <a:srgbClr val="17A58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284378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Historical comparison page  /compare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31363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D"/>
                </a:solidFill>
              </a:rPr>
              <a:t>Vote-share trends 2013–2025 · municipalities where winner changed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3630168"/>
            <a:ext cx="457200" cy="4572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0080" y="4087368"/>
            <a:ext cx="0" cy="256032"/>
          </a:xfrm>
          <a:prstGeom prst="line">
            <a:avLst/>
          </a:prstGeom>
          <a:noFill/>
          <a:ln w="12700">
            <a:solidFill>
              <a:srgbClr val="17A58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36027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Flask map  /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89534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D"/>
                </a:solidFill>
              </a:rPr>
              <a:t>Interactive Leaflet map · click a municipality · see results update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4389120"/>
            <a:ext cx="457200" cy="4572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89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361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Municipality results page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6542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D"/>
                </a:solidFill>
              </a:rPr>
              <a:t>Turnout · vote-share chart · seat chart · elected members list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>
            <a:extLst>
              <a:ext uri="{FF2B5EF4-FFF2-40B4-BE49-F238E27FC236}">
                <a16:creationId xmlns:a16="http://schemas.microsoft.com/office/drawing/2014/main" id="{3379B58C-6ADE-1F34-C8B3-654EA0C0C76B}"/>
              </a:ext>
            </a:extLst>
          </p:cNvPr>
          <p:cNvSpPr/>
          <p:nvPr/>
        </p:nvSpPr>
        <p:spPr>
          <a:xfrm>
            <a:off x="5043485" y="121442"/>
            <a:ext cx="3964782" cy="4900613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C533FD71-B101-AE44-6C38-1E34D71DC145}"/>
              </a:ext>
            </a:extLst>
          </p:cNvPr>
          <p:cNvSpPr/>
          <p:nvPr/>
        </p:nvSpPr>
        <p:spPr>
          <a:xfrm>
            <a:off x="4086224" y="121443"/>
            <a:ext cx="3964782" cy="4900613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121443" y="121444"/>
            <a:ext cx="3964782" cy="4900613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88920" y="31703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A1931"/>
                </a:solidFill>
              </a:rPr>
              <a:t>Questions?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88922" y="1343025"/>
            <a:ext cx="327326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0A1931"/>
                </a:solidFill>
              </a:rPr>
              <a:t>Thank</a:t>
            </a:r>
            <a:endParaRPr lang="en-US" sz="5800" dirty="0"/>
          </a:p>
          <a:p>
            <a:pPr marL="0" indent="0" algn="ctr">
              <a:buNone/>
            </a:pPr>
            <a:r>
              <a:rPr lang="en-US" sz="5800" b="1" dirty="0">
                <a:solidFill>
                  <a:srgbClr val="0A1931"/>
                </a:solidFill>
              </a:rPr>
              <a:t>You</a:t>
            </a:r>
            <a:endParaRPr lang="en-US" sz="5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Apresentação no Ecrã (16:9)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3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Election Analytics Platform for Portugal</dc:title>
  <dc:subject>PptxGenJS Presentation</dc:subject>
  <dc:creator>PptxGenJS</dc:creator>
  <cp:lastModifiedBy>PptxGenJS</cp:lastModifiedBy>
  <cp:revision>90</cp:revision>
  <dcterms:created xsi:type="dcterms:W3CDTF">2026-06-04T18:36:22Z</dcterms:created>
  <dcterms:modified xsi:type="dcterms:W3CDTF">2026-06-04T19:34:19Z</dcterms:modified>
</cp:coreProperties>
</file>